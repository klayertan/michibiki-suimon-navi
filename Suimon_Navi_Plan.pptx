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8375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77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スイスイナビ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9436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水門ナビ / Suimon Navi — 水田水門タイミング意思決定支援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943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令和8年度 準天頂衛星「みちびき」ハッカソン　最終発表に向けた開発計画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 ｜ 奈良高専 ｜ KAI（個人参加）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92640" y="6035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3BF"/>
                </a:solidFill>
              </a:rPr>
              <a:t>2026.07.04 時点プラン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地域課題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</a:rPr>
              <a:t>REGIONAL PROBLEM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500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実在する当事者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友人の祖父が営む水田（水稲）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83464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水門（取水口）の開閉タイミングは長年の経験と勘に依存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天候・生育段階に応じた判断は高齢の担い手ほど負担が大きい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後継者が同じ精度で判断できるとは限らない → 継承リスク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0" y="1554480"/>
            <a:ext cx="5669280" cy="4480560"/>
          </a:xfrm>
          <a:prstGeom prst="roundRect">
            <a:avLst>
              <a:gd name="adj" fmla="val 2449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630936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なぜ今、解く価値があるか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09360" y="228600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</a:rPr>
              <a:t>水稲は水管理の精度が収量・品質に直結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</a:rPr>
              <a:t>手動操作を前提に、判断だけを支援する現実的な範囲設定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</a:rPr>
              <a:t>物理的な水門自動化はスコープ外（責任・安全上のリスクのため）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E9F1F7"/>
                </a:solidFill>
              </a:rPr>
              <a:t>実際の圃場・実在の担い手で検証 → ベストフィールドワーク賞を狙える設計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技術の壁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</a:rPr>
              <a:t>THE TECHNICAL WALL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DEEE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2110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48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1E1E"/>
                </a:solidFill>
              </a:rPr>
              <a:t>スマホ単体GPS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1414"/>
                </a:solidFill>
              </a:rPr>
              <a:t>市街地・遮蔽下でマルチパス誤差 → 実測で約5m前後ずれることがある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1414"/>
                </a:solidFill>
              </a:rPr>
              <a:t>畦・水路など近接する地物を取り違えるリスク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5C1414"/>
                </a:solidFill>
              </a:rPr>
              <a:t>圃場形状の正確な記録に不向き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7373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E7F3F5"/>
          </a:solidFill>
          <a:ln/>
        </p:spPr>
      </p:sp>
      <p:sp>
        <p:nvSpPr>
          <p:cNvPr id="10" name="Shape 7"/>
          <p:cNvSpPr/>
          <p:nvPr/>
        </p:nvSpPr>
        <p:spPr>
          <a:xfrm>
            <a:off x="6720840" y="2057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459" y="22110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148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QZ1 + みちびきSLAS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720840" y="301752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3D4D"/>
                </a:solidFill>
              </a:rPr>
              <a:t>L1S/SLAS補強でサブメートル級（約1m）に改善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3D4D"/>
                </a:solidFill>
              </a:rPr>
              <a:t>GGAセンテンスの品質指標=2（DGPS）で補強を実測確認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0A3D4D"/>
                </a:solidFill>
              </a:rPr>
              <a:t>隣接地物を区別できる精度で圃場形状を記録可能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CLAS（センチメートル級）受信機は入手不可・貸与不許可 → SLAS（サブメートル級）を正面から使い、精度要求に見合う設計にする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ソリューション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D8CB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スイスイナビ（水門ナビ）= 水門操作タイミングの「意思決定支援」Webアプリ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1F7"/>
                </a:solidFill>
              </a:rPr>
              <a:t>圃場の高精度形状データ＋気象情報から、推奨タイミングを提示。実際の水門操作は農家が行う。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3703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385693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4526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高精度な圃場形状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4983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</a:rPr>
              <a:t>SLAS実測で圃場境界・取水口位置を正確に記録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43400" y="338328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065A82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3703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059" y="385693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4526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気象データ連携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17720" y="4983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</a:rPr>
              <a:t>降水・気温等を踏まえた水位管理タイミングを算出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338328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065A82"/>
          </a:solidFill>
          <a:ln/>
        </p:spPr>
      </p:sp>
      <p:sp>
        <p:nvSpPr>
          <p:cNvPr id="18" name="Shape 14"/>
          <p:cNvSpPr/>
          <p:nvPr/>
        </p:nvSpPr>
        <p:spPr>
          <a:xfrm>
            <a:off x="8458200" y="3703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819" y="385693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4526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自動化しない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12480" y="4983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</a:rPr>
              <a:t>物理操作は農家が実施 → 責任・安全上のスコープを明確化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技術構成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9224" y="201168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5024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8643" y="24396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0664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QZ1 (Blue)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0664" y="34747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L1S/SLAS受信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Bluetooth SPP接続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9192" y="370332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62072" y="201168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491" y="243961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53512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Pixel 6a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53512" y="34747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NMEA受信・記録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fix=2 を確認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892040" y="370332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074920" y="201168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6072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39" y="243961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6636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Leaflet地図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166360" y="34747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圃場形状を可視化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JavaScriptパース済み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104888" y="370332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287768" y="201168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73568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187" y="243961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79208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静的JSON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379208" y="34747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圃場形状+水門ルール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Open-Meteo気象連携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317736" y="370332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500616" y="201168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186416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0035" y="2439619"/>
            <a:ext cx="332842" cy="33284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92056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GitHub Pages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592056" y="34747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無料・静的ホスティング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URL共有で公開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データ保存はlocalStorage（下書き）＋静的JSON中心。クラウドDB・ログイン基盤はMVP段階では構築しない（審査基準「完成度」に集中投資）。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実証済みの進捗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FD8CB"/>
                </a:solidFill>
              </a:rPr>
              <a:t>PROVEN — 2026.07.06 実測セッション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アプリ公開中：</a:t>
            </a:r>
            <a:pPr indent="0" marL="0">
              <a:buNone/>
            </a:pPr>
            <a:r>
              <a:rPr lang="en-US" sz="1500" b="1" dirty="0">
                <a:solidFill>
                  <a:srgbClr val="9FD8CB"/>
                </a:solidFill>
              </a:rPr>
              <a:t xml:space="preserve"> klayertan.github.io/michibiki-suimon-navi/ </a:t>
            </a:r>
            <a:pPr indent="0" marL="0">
              <a:buNone/>
            </a:pPr>
            <a:r>
              <a:rPr lang="en-US" sz="1500" dirty="0">
                <a:solidFill>
                  <a:srgbClr val="E9F1F7"/>
                </a:solidFill>
              </a:rPr>
              <a:t>— 実機QZ1データでエンドツーエンド動作を確認済み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80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FD8CB"/>
                </a:solidFill>
              </a:rPr>
              <a:t>332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6E3"/>
                </a:solidFill>
              </a:rPr>
              <a:t>有効測位点（キャンパス徒歩測量）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7432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880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FD8CB"/>
                </a:solidFill>
              </a:rPr>
              <a:t>81%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26280" y="3703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6E3"/>
                </a:solidFill>
              </a:rPr>
              <a:t>SLAS補強率（fix=2：268点）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7432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880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FD8CB"/>
                </a:solidFill>
              </a:rPr>
              <a:t>1.9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21040" y="3703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6E3"/>
                </a:solidFill>
              </a:rPr>
              <a:t>平均HDOP（fix=2、衛星4〜7機）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457200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F1F7"/>
                </a:solidFill>
              </a:rPr>
              <a:t>NMEA取込 → 品質別色分け地図表示 ／ 測量JSON入出力 ／ スマホGPS同時記録（比較用）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9F1F7"/>
                </a:solidFill>
              </a:rPr>
              <a:t>Open-Meteoから現在地気象を自動取得（手動上書き可）→ しきい値判定 → 推奨を提示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E9F1F7"/>
                </a:solidFill>
              </a:rPr>
              <a:t>推奨出力の実例：24mm/24h降雨 → 「閉める」＋根拠説明＋「操作は必ず人が行う」明記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ドローン拡張計画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4748B"/>
                </a:solidFill>
              </a:rPr>
              <a:t>DRONE EXPANSION — HOLYBRO X500 V2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500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発想の転換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課題：BluetoothSPPの通信距離（約10〜30m）は飛行中のライブ中継には不十分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解決：機体は自機のGPSで自律飛行。QZ1はペイロードとして搭載し機内ロギング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着陸後にデータ回収 → 飛行中のライブ通信は不要に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現時点の確定事項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0" y="22860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F1F7"/>
                </a:solidFill>
              </a:rPr>
              <a:t>機体登録・航空法対応：完了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F1F7"/>
                </a:solidFill>
              </a:rPr>
              <a:t>学校内で試験飛行可（教員許可・作物なし区域）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F1F7"/>
                </a:solidFill>
              </a:rPr>
              <a:t>友人の祖父の水田で実地飛行の見込み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83680" y="3977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CB"/>
                </a:solidFill>
              </a:rPr>
              <a:t>残タスク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0" y="42976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6E3"/>
                </a:solidFill>
              </a:rPr>
              <a:t>ペイロード重量・搭載方法の確定（QZ1＋電源）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6E3"/>
                </a:solidFill>
              </a:rPr>
              <a:t>ロギング方式の決定（機内ロガー or 端末搭載）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6E3"/>
                </a:solidFill>
              </a:rPr>
              <a:t>祖父から水田上空飛行の明示的な同意取得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C9D6E3"/>
                </a:solidFill>
              </a:rPr>
              <a:t>同伴者の確保（単独作業禁止ルール）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スマート農業への発展構想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4748B"/>
                </a:solidFill>
              </a:rPr>
              <a:t>VISION — UAV PADDY DIAGNOSIS PLATFORM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8CB"/>
                </a:solidFill>
              </a:rPr>
              <a:t>カメラ／画像認識＝「何の問題か」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　×　</a:t>
            </a:r>
            <a:pPr indent="0" marL="0">
              <a:buNone/>
            </a:pPr>
            <a:r>
              <a:rPr lang="en-US" sz="1600" b="1" dirty="0">
                <a:solidFill>
                  <a:srgbClr val="9FD8CB"/>
                </a:solidFill>
              </a:rPr>
              <a:t>QZ1／QZSS＝「どこにあるか」</a:t>
            </a:r>
            <a:pPr indent="0" marL="0">
              <a:buNone/>
            </a:pPr>
            <a:r>
              <a:rPr lang="en-US" sz="1600" dirty="0">
                <a:solidFill>
                  <a:srgbClr val="E9F1F7"/>
                </a:solidFill>
              </a:rPr>
              <a:t>　→ 圃場診断マップを自動生成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3949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検知対象（水管理から段階拡張）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水位・灌漑の異常（スイスイナビの中核）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雑草パッチの分布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病害虫の兆候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肥料・栄養起因の生育ムラ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収穫時期・登熟状態の判定</a:t>
            </a:r>
            <a:endParaRPr lang="en-US" sz="12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その他の圃場異常の検出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560320"/>
            <a:ext cx="5394960" cy="3474720"/>
          </a:xfrm>
          <a:prstGeom prst="roundRect">
            <a:avLst>
              <a:gd name="adj" fmla="val 3158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試作機アーキテクチャ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9F1F7"/>
                </a:solidFill>
              </a:rPr>
              <a:t>4S LiPo → 5V/5A BEC → Raspberry Pi 4 ＋ Camera Module 3 Wide（下向き撮影）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9F1F7"/>
                </a:solidFill>
              </a:rPr>
              <a:t>QZ1は機体上面に独立搭載・独立ロギング（実証済みの方式を流用）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9F1F7"/>
                </a:solidFill>
              </a:rPr>
              <a:t>CLEALINK/LoRaは座標＋問題ラベル等の小データのみ地上送信（映像は送らない）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E9F1F7"/>
                </a:solidFill>
              </a:rPr>
              <a:t>処理はオフライン先行 → 将来リアルタイム化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217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試作段階では散布等の物理作用は行わない：撮影・座標記録・検知・マップ/CSV生成のみ（判断支援の思想を一貫）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全体アーキテクチャ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4748B"/>
                </a:solidFill>
              </a:rPr>
              <a:t>FULL SYSTEM — 現在稼働中の部分と拡張部分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① 現場データ取得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② 処理（Webアプリ）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9536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③ 出力・意思決定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56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QZ1 (SLAS) — 稼働中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671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3"/>
                </a:solidFill>
              </a:rPr>
              <a:t>BT SPP→スマホでNMEA記録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6E3"/>
                </a:solidFill>
              </a:rPr>
              <a:t>fix=2・衛星数・HDOPを取得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535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スマホGPS — 稼働中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264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F1F7"/>
                </a:solidFill>
              </a:rPr>
              <a:t>同一歩行で同時記録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9F1F7"/>
                </a:solidFill>
              </a:rPr>
              <a:t>精度比較（〜5mドリフト実証用）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050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ドローン X500 V2 — 拡張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3616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3"/>
                </a:solidFill>
              </a:rPr>
              <a:t>QZ1上面搭載・機内ロギング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6E3"/>
                </a:solidFill>
              </a:rPr>
              <a:t>Pi4+Camera Mod 3 Wide下向き撮影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6E3"/>
                </a:solidFill>
              </a:rPr>
              <a:t>（着陸後にデータ回収）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0" y="3017520"/>
            <a:ext cx="45720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178308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856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NMEAパーサ — 稼働中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1671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GGA解析・品質別分類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$L1BAT/$L1MAG等は自動スキップ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30175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Open-Meteo気象 — 稼働中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34015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現在地の降雨・降水確率を自動取得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手動上書き可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425196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4325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しきい値判定 — 稼働中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46360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閉≥20mm/様子見≥5mm/開待ち≥60%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※値は祖父ヒアリングで更新予定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46720" y="3017520"/>
            <a:ext cx="45720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8595360" y="178308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873252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Leaflet地図 — 稼働中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32520" y="21671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3"/>
                </a:solidFill>
              </a:rPr>
              <a:t>圃場/QZ1/GPSレイヤー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6E3"/>
                </a:solidFill>
              </a:rPr>
              <a:t>補強点のみ表示切替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595360" y="301752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73252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推奨表示 — 稼働中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32520" y="34015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F1F7"/>
                </a:solidFill>
              </a:rPr>
              <a:t>「閉める/様子見/開ける」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9F1F7"/>
                </a:solidFill>
              </a:rPr>
              <a:t>＋根拠説明＋人が操作の明記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595360" y="425196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34" name="Text 32"/>
          <p:cNvSpPr/>
          <p:nvPr/>
        </p:nvSpPr>
        <p:spPr>
          <a:xfrm>
            <a:off x="8732520" y="4325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診断マップ/CSV — 拡張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32520" y="46360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3"/>
                </a:solidFill>
              </a:rPr>
              <a:t>画像認識の問題ラベル×座標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6E3"/>
                </a:solidFill>
              </a:rPr>
              <a:t>LoRaで小データ地上送信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6052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基盤：静的JSON（圃場形状・しきい値設定）＋ GitHub Pages（稼働中）｜ クラウドDB・ログインなし ｜ GeoJSONは[lng,lat]順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凡例：濃紺=拡張構想 ／ それ以外=稼働中（7/6実証済み）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必要機材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4748B"/>
                </a:solidFill>
              </a:rPr>
              <a:t>EQUIPMENT NEEDED — ドローン拡張用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4884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購入希望（ドローン拡張用・概算）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48840" y="1920240"/>
          <a:ext cx="78638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品目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用途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概算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Raspberry Pi 4B (4GB)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機上コンピュータ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</a:rPr>
                        <a:t>〜¥10,000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Pi Camera Module 3 Wide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下向き圃場撮影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</a:rPr>
                        <a:t>〜¥8,000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microSD 64GB＋FFCケーブル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OS・データ保存/接続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</a:rPr>
                        <a:t>〜¥3,000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5V/5A BEC＋XT60分岐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4S LiPo→Pi安全給電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</a:rPr>
                        <a:t>〜¥3,000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テスター（マルチメータ）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BEC出力の事前確認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</a:rPr>
                        <a:t>〜¥2,000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Pi固定トレイ・小物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機体マウント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</a:rPr>
                        <a:t>〜¥2,000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合計（概算）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</a:rPr>
                        <a:t>〜¥28,000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148840" y="5760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研究室在庫があれば流用希望：CLEALINK/LoRaモジュール×2・レベルシフタ・ジャンパ線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安全ルール順守：LiPo直結・Pixhawk給電は行わない（BEC経由のみ）／飛行は登録済み機体・同伴者あり・作物なし区域から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検証・フィールドワーク計画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</a:rPr>
              <a:t>VALIDATION PLAN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19456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2846" y="23372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① 学校で搭載試験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F1F7"/>
                </a:solidFill>
              </a:rPr>
              <a:t>作物のない区域でQZ1搭載・ロギング動作を確認（教員許可済み）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219456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766" y="233720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② 同意取得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20440" y="36118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F1F7"/>
                </a:solidFill>
              </a:rPr>
              <a:t>祖父から水田実地調査・上空飛行の明示的な同意を取得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72200" y="19202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15" name="Shape 11"/>
          <p:cNvSpPr/>
          <p:nvPr/>
        </p:nvSpPr>
        <p:spPr>
          <a:xfrm>
            <a:off x="7178040" y="219456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686" y="233720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③ 徒歩測量（確実に動く土台）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09360" y="36118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F1F7"/>
                </a:solidFill>
              </a:rPr>
              <a:t>同伴者とQZ1＋Pixelで水田境界・水門位置を実測（MVPの主経路）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61120" y="19202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</p:sp>
      <p:sp>
        <p:nvSpPr>
          <p:cNvPr id="20" name="Shape 15"/>
          <p:cNvSpPr/>
          <p:nvPr/>
        </p:nvSpPr>
        <p:spPr>
          <a:xfrm>
            <a:off x="9966960" y="219456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9606" y="233720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④ ドローン測量（発展）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098280" y="36118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F1F7"/>
                </a:solidFill>
              </a:rPr>
              <a:t>祖父の水田上空で実地飛行 → 高密度な圃場形状データを取得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単独でのフィールドワーク・ドローン飛行は禁止 → 全工程で同伴者を確保する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ロードマップ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D8CB"/>
                </a:solidFill>
              </a:rPr>
              <a:t>ROADMAP TO 9/4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933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470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CB"/>
                </a:solidFill>
              </a:rPr>
              <a:t>7月 ✓達成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834640" y="18013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コア機能を証明【完了】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17920" y="184708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</a:rPr>
              <a:t>アプリ公開済み。実機QZ1で332点取得、SLAS補強81%をE2Eで確認（7/6）。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91540" y="251460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48640" y="30175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1821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035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CB"/>
                </a:solidFill>
              </a:rPr>
              <a:t>7〜8月上旬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834640" y="2990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実圃場データ収集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217920" y="303580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</a:rPr>
              <a:t>祖父の水田で徒歩測量＋スマホGPS同時記録（精度比較図）。しきい値は祖父ヒアリングで決定。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91540" y="370332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548640" y="42062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37083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224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CB"/>
                </a:solidFill>
              </a:rPr>
              <a:t>8月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834640" y="41788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発展機能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217920" y="422452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</a:rPr>
              <a:t>学校でドローン搭載試験 → 同意取得後に水田上空測量。週次報告を継続。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91540" y="489204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548640" y="53949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559552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54132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CB"/>
                </a:solidFill>
              </a:rPr>
              <a:t>9/1–9/4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2834640" y="53675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現地合宿・最終発表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217920" y="541324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</a:rPr>
              <a:t>長岡高専にてフィールドテスト・仕上げ・最終発表（10分＋質疑10分）。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審査基準への対応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</a:rPr>
              <a:t>RUBRIC ALIGNMENT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75895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評価項目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配点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対応内容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地域課題の的確さ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実在の祖父・水田。手動水門操作の負担を実地ヒアリングで裏付け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位置情報の活用度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SLAS実測（fix=2・衛星数・HDOP）で圃場形状を高精度記録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完成度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公開済みアプリで実機データE2E動作を実証済み（7/6時点で稼働中）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プレゼンテーション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課題→技術の壁→解決策→デモの型で構成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発展可能性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しきい値は設定ファイル化で他圃場へ即展開。UAV圃場診断プラットフォームへ拡張構想あり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狙う特別賞：ベストフィールドワーク賞（実地調査重視）／技術チャレンジ賞（ドローン搭載SLAS測量）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Suimon Navi Plan</dc:title>
  <dc:subject>PptxGenJS Presentation</dc:subject>
  <dc:creator>KAI / Nara KOSEN Team E</dc:creator>
  <cp:lastModifiedBy>KAI / Nara KOSEN Team E</cp:lastModifiedBy>
  <cp:revision>1</cp:revision>
  <dcterms:created xsi:type="dcterms:W3CDTF">2026-07-06T16:23:07Z</dcterms:created>
  <dcterms:modified xsi:type="dcterms:W3CDTF">2026-07-06T16:23:07Z</dcterms:modified>
</cp:coreProperties>
</file>