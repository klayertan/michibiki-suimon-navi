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206240"/>
            <a:ext cx="4114800" cy="4114800"/>
          </a:xfrm>
          <a:prstGeom prst="ellipse">
            <a:avLst/>
          </a:prstGeom>
          <a:solidFill>
            <a:srgbClr val="1C7293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64008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590" y="837590"/>
            <a:ext cx="427939" cy="42793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3774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水門ナビ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594360" y="33375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FD8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Suimon Navi — 水田水門タイミング意思決定支援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94360" y="393192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令和8年度 準天頂衛星「みちびき」ハッカソン　最終発表に向けた開発計画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9436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E ｜ 奈良高専 ｜ KAI（個人参加）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9692640" y="6035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FA3BF"/>
                </a:solidFill>
              </a:rPr>
              <a:t>2026.07.04 時点プラン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地域課題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64748B"/>
                </a:solidFill>
              </a:rPr>
              <a:t>REGIONAL PROBLEM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1206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87452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965" y="2050085"/>
            <a:ext cx="380390" cy="3803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1920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</a:rPr>
              <a:t>実在する当事者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828800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友人の祖父が営む水田（水稲）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14400" y="2834640"/>
            <a:ext cx="4389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</a:rPr>
              <a:t>水門（取水口）の開閉タイミングは長年の経験と勘に依存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</a:rPr>
              <a:t>天候・生育段階に応じた判断は高齢の担い手ほど負担が大きい</a:t>
            </a:r>
            <a:endParaRPr lang="en-US" sz="13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</a:rPr>
              <a:t>後継者が同じ精度で判断できるとは限らない → 継承リスク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943600" y="1554480"/>
            <a:ext cx="5669280" cy="4480560"/>
          </a:xfrm>
          <a:prstGeom prst="roundRect">
            <a:avLst>
              <a:gd name="adj" fmla="val 2449"/>
            </a:avLst>
          </a:prstGeom>
          <a:solidFill>
            <a:srgbClr val="065A82"/>
          </a:solidFill>
          <a:ln/>
        </p:spPr>
      </p:sp>
      <p:sp>
        <p:nvSpPr>
          <p:cNvPr id="11" name="Text 8"/>
          <p:cNvSpPr/>
          <p:nvPr/>
        </p:nvSpPr>
        <p:spPr>
          <a:xfrm>
            <a:off x="6309360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なぜ今、解く価値があるか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309360" y="2286000"/>
            <a:ext cx="502920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9F1F7"/>
                </a:solidFill>
              </a:rPr>
              <a:t>水稲は水管理の精度が収量・品質に直結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9F1F7"/>
                </a:solidFill>
              </a:rPr>
              <a:t>手動操作を前提に、判断だけを支援する現実的な範囲設定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9F1F7"/>
                </a:solidFill>
              </a:rPr>
              <a:t>物理的な水門自動化はスコープ外（責任・安全上のリスクのため）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rgbClr val="E9F1F7"/>
                </a:solidFill>
              </a:rPr>
              <a:t>実際の圃場・実在の担い手で検証 → ベストフィールドワーク賞を狙える設計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技術の壁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64748B"/>
                </a:solidFill>
              </a:rPr>
              <a:t>THE TECHNICAL WALL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257800" cy="4206240"/>
          </a:xfrm>
          <a:prstGeom prst="roundRect">
            <a:avLst>
              <a:gd name="adj" fmla="val 2609"/>
            </a:avLst>
          </a:prstGeom>
          <a:solidFill>
            <a:srgbClr val="FDEEEE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57400"/>
            <a:ext cx="640080" cy="64008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" y="22110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21488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1E1E"/>
                </a:solidFill>
              </a:rPr>
              <a:t>スマホ単体GPS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14400" y="3017520"/>
            <a:ext cx="44805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C1414"/>
                </a:solidFill>
              </a:rPr>
              <a:t>市街地・遮蔽下でマルチパス誤差 → 実測で約5m前後ずれることがある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C1414"/>
                </a:solidFill>
              </a:rPr>
              <a:t>畦・水路など近接する地物を取り違えるリスク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rgbClr val="5C1414"/>
                </a:solidFill>
              </a:rPr>
              <a:t>圃場形状の正確な記録に不向き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355080" y="1737360"/>
            <a:ext cx="5257800" cy="4206240"/>
          </a:xfrm>
          <a:prstGeom prst="roundRect">
            <a:avLst>
              <a:gd name="adj" fmla="val 2609"/>
            </a:avLst>
          </a:prstGeom>
          <a:solidFill>
            <a:srgbClr val="E7F3F5"/>
          </a:solidFill>
          <a:ln/>
        </p:spPr>
      </p:sp>
      <p:sp>
        <p:nvSpPr>
          <p:cNvPr id="10" name="Shape 7"/>
          <p:cNvSpPr/>
          <p:nvPr/>
        </p:nvSpPr>
        <p:spPr>
          <a:xfrm>
            <a:off x="6720840" y="205740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4459" y="221101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43800" y="21488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</a:rPr>
              <a:t>QZ1 + みちびきSLAS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720840" y="3017520"/>
            <a:ext cx="44805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A3D4D"/>
                </a:solidFill>
              </a:rPr>
              <a:t>SLAS補強が提供されれば、サブメートル級（約1m）まで改善が期待できる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A3D4D"/>
                </a:solidFill>
              </a:rPr>
              <a:t>GGAセンテンスの品質指標=2（DGPS）で補強の有無を判定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rgbClr val="0A3D4D"/>
                </a:solidFill>
              </a:rPr>
              <a:t>得られれば、隣接地物を区別できる精度で圃場形状を記録可能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48640" y="6080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4748B"/>
                </a:solidFill>
              </a:rPr>
              <a:t>CLAS（センチメートル級）受信機は入手不可・貸与不許可。SLAS補強も主催者から確約はなく、提供時に有利になる前提で設計し、未提供でも動作する設計を優先する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ソリューション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9FD8CB"/>
                </a:solidFill>
              </a:rPr>
              <a:t>THE SOLUTION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8745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水門ナビ = 水門操作タイミングの「意思決定支援」Webアプリ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233172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F1F7"/>
                </a:solidFill>
              </a:rPr>
              <a:t>圃場の高精度形状データ＋気象情報から、推奨タイミングを提示。実際の水門操作は農家が行う。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383280"/>
            <a:ext cx="3520440" cy="2651760"/>
          </a:xfrm>
          <a:prstGeom prst="roundRect">
            <a:avLst>
              <a:gd name="adj" fmla="val 4138"/>
            </a:avLst>
          </a:prstGeom>
          <a:solidFill>
            <a:srgbClr val="065A82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370332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" y="3856939"/>
            <a:ext cx="332842" cy="33284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22960" y="452628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高精度な圃場形状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22960" y="49834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6E3"/>
                </a:solidFill>
              </a:rPr>
              <a:t>SLAS取得時、圃場境界・取水口位置を高精度に記録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43400" y="3383280"/>
            <a:ext cx="3520440" cy="2651760"/>
          </a:xfrm>
          <a:prstGeom prst="roundRect">
            <a:avLst>
              <a:gd name="adj" fmla="val 4138"/>
            </a:avLst>
          </a:prstGeom>
          <a:solidFill>
            <a:srgbClr val="065A82"/>
          </a:solidFill>
          <a:ln/>
        </p:spPr>
      </p:sp>
      <p:sp>
        <p:nvSpPr>
          <p:cNvPr id="13" name="Shape 10"/>
          <p:cNvSpPr/>
          <p:nvPr/>
        </p:nvSpPr>
        <p:spPr>
          <a:xfrm>
            <a:off x="4663440" y="370332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7059" y="3856939"/>
            <a:ext cx="332842" cy="33284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17720" y="452628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気象データ連携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4617720" y="49834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6E3"/>
                </a:solidFill>
              </a:rPr>
              <a:t>降水・気温等を踏まえた水位管理タイミングを算出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138160" y="3383280"/>
            <a:ext cx="3520440" cy="2651760"/>
          </a:xfrm>
          <a:prstGeom prst="roundRect">
            <a:avLst>
              <a:gd name="adj" fmla="val 4138"/>
            </a:avLst>
          </a:prstGeom>
          <a:solidFill>
            <a:srgbClr val="065A82"/>
          </a:solidFill>
          <a:ln/>
        </p:spPr>
      </p:sp>
      <p:sp>
        <p:nvSpPr>
          <p:cNvPr id="18" name="Shape 14"/>
          <p:cNvSpPr/>
          <p:nvPr/>
        </p:nvSpPr>
        <p:spPr>
          <a:xfrm>
            <a:off x="8458200" y="370332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1819" y="3856939"/>
            <a:ext cx="332842" cy="33284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12480" y="452628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自動化しない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8412480" y="49834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6E3"/>
                </a:solidFill>
              </a:rPr>
              <a:t>物理操作は農家が実施 → 責任・安全上のスコープを明確化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技術構成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64748B"/>
                </a:solidFill>
              </a:rPr>
              <a:t>SYSTEM ARCHITECTURE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9224" y="2011680"/>
            <a:ext cx="2011680" cy="33832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35024" y="22860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8643" y="24396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0664" y="3108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QZ1 (Blue)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40664" y="347472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L1S/SLAS受信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Bluetooth SPP接続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679192" y="3703320"/>
            <a:ext cx="16459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862072" y="2011680"/>
            <a:ext cx="2011680" cy="33832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47872" y="228600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1491" y="2439619"/>
            <a:ext cx="332842" cy="33284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953512" y="3108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Pixel 6a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2953512" y="347472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NMEA受信・記録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fix=2 を確認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892040" y="3703320"/>
            <a:ext cx="16459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074920" y="2011680"/>
            <a:ext cx="2011680" cy="33832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760720" y="22860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4339" y="2439619"/>
            <a:ext cx="332842" cy="33284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166360" y="3108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Leaflet地図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5166360" y="347472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圃場形状を可視化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JavaScriptパース済み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7104888" y="3703320"/>
            <a:ext cx="16459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287768" y="2011680"/>
            <a:ext cx="2011680" cy="33832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973568" y="228600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7187" y="2439619"/>
            <a:ext cx="332842" cy="33284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379208" y="3108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静的JSON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7379208" y="347472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圃場形状+水門ルール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+気象入力枠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9317736" y="3703320"/>
            <a:ext cx="16459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9500616" y="2011680"/>
            <a:ext cx="2011680" cy="33832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10186416" y="22860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40035" y="2439619"/>
            <a:ext cx="332842" cy="332842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9592056" y="3108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GitHub Pages</a:t>
            </a:r>
            <a:endParaRPr lang="en-US" sz="1300" dirty="0"/>
          </a:p>
        </p:txBody>
      </p:sp>
      <p:sp>
        <p:nvSpPr>
          <p:cNvPr id="32" name="Text 25"/>
          <p:cNvSpPr/>
          <p:nvPr/>
        </p:nvSpPr>
        <p:spPr>
          <a:xfrm>
            <a:off x="9592056" y="347472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無料・静的ホスティング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URL共有で公開</a:t>
            </a:r>
            <a:endParaRPr lang="en-US" sz="1050" dirty="0"/>
          </a:p>
        </p:txBody>
      </p:sp>
      <p:sp>
        <p:nvSpPr>
          <p:cNvPr id="33" name="Text 26"/>
          <p:cNvSpPr/>
          <p:nvPr/>
        </p:nvSpPr>
        <p:spPr>
          <a:xfrm>
            <a:off x="548640" y="58064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4748B"/>
                </a:solidFill>
              </a:rPr>
              <a:t>データ保存はlocalStorage（下書き）＋静的JSON中心。クラウドDB・ログイン基盤はMVP段階では構築しない（審査基準「完成度」に集中投資）。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ドローン拡張計画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64748B"/>
                </a:solidFill>
              </a:rPr>
              <a:t>DRONE EXPANSION — HOLYBRO X500 V2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874520"/>
            <a:ext cx="731520" cy="731520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965" y="2050085"/>
            <a:ext cx="380390" cy="3803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19659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</a:rPr>
              <a:t>発想の転換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2651760"/>
            <a:ext cx="46634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</a:rPr>
              <a:t>課題：BluetoothSPPの通信距離（約10〜30m）は飛行中のライブ中継には不十分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</a:rPr>
              <a:t>解決：機体は自機のGPSで自律飛行。QZ1はペイロードとして搭載し機内ロギング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</a:rPr>
              <a:t>着陸後にデータ回収 → 飛行中のライブ通信は不要に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17920" y="1554480"/>
            <a:ext cx="5394960" cy="4480560"/>
          </a:xfrm>
          <a:prstGeom prst="roundRect">
            <a:avLst>
              <a:gd name="adj" fmla="val 2449"/>
            </a:avLst>
          </a:prstGeom>
          <a:solidFill>
            <a:srgbClr val="065A82"/>
          </a:solidFill>
          <a:ln/>
        </p:spPr>
      </p:sp>
      <p:sp>
        <p:nvSpPr>
          <p:cNvPr id="10" name="Text 7"/>
          <p:cNvSpPr/>
          <p:nvPr/>
        </p:nvSpPr>
        <p:spPr>
          <a:xfrm>
            <a:off x="6583680" y="1828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現時点の確定事項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583680" y="2286000"/>
            <a:ext cx="4663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9F1F7"/>
                </a:solidFill>
              </a:rPr>
              <a:t>機体登録・航空法対応：完了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9F1F7"/>
                </a:solidFill>
              </a:rPr>
              <a:t>学校内で試験飛行可（教員許可・作物なし区域）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9F1F7"/>
                </a:solidFill>
              </a:rPr>
              <a:t>友人の祖父の水田で実地飛行の見込み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583680" y="3977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D8CB"/>
                </a:solidFill>
              </a:rPr>
              <a:t>残タスク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583680" y="4297680"/>
            <a:ext cx="4663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9D6E3"/>
                </a:solidFill>
              </a:rPr>
              <a:t>ペイロード重量・搭載方法の確定（QZ1＋電源）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9D6E3"/>
                </a:solidFill>
              </a:rPr>
              <a:t>ロギング方式の決定（機内ロガー or 端末搭載）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9D6E3"/>
                </a:solidFill>
              </a:rPr>
              <a:t>祖父から水田上空飛行の明示的な同意取得</a:t>
            </a:r>
            <a:endParaRPr lang="en-US" sz="12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200" dirty="0">
                <a:solidFill>
                  <a:srgbClr val="C9D6E3"/>
                </a:solidFill>
              </a:rPr>
              <a:t>同伴者の確保（単独作業禁止ルール）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検証・フィールドワーク計画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64748B"/>
                </a:solidFill>
              </a:rPr>
              <a:t>VALIDATION PLAN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94360" y="1920240"/>
            <a:ext cx="2606040" cy="4023360"/>
          </a:xfrm>
          <a:prstGeom prst="roundRect">
            <a:avLst>
              <a:gd name="adj" fmla="val 3509"/>
            </a:avLst>
          </a:prstGeom>
          <a:solidFill>
            <a:srgbClr val="065A82"/>
          </a:solidFill>
          <a:ln/>
        </p:spPr>
      </p:sp>
      <p:sp>
        <p:nvSpPr>
          <p:cNvPr id="5" name="Shape 3"/>
          <p:cNvSpPr/>
          <p:nvPr/>
        </p:nvSpPr>
        <p:spPr>
          <a:xfrm>
            <a:off x="1600200" y="2194560"/>
            <a:ext cx="594360" cy="594360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2846" y="2337206"/>
            <a:ext cx="309067" cy="30906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9260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① 学校で搭載試験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31520" y="361188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9F1F7"/>
                </a:solidFill>
              </a:rPr>
              <a:t>作物のない区域でQZ1搭載・ロギング動作を確認（教員許可済み）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383280" y="1920240"/>
            <a:ext cx="2606040" cy="4023360"/>
          </a:xfrm>
          <a:prstGeom prst="roundRect">
            <a:avLst>
              <a:gd name="adj" fmla="val 3509"/>
            </a:avLst>
          </a:prstGeom>
          <a:solidFill>
            <a:srgbClr val="1C7293"/>
          </a:solidFill>
          <a:ln/>
        </p:spPr>
      </p:sp>
      <p:sp>
        <p:nvSpPr>
          <p:cNvPr id="10" name="Shape 7"/>
          <p:cNvSpPr/>
          <p:nvPr/>
        </p:nvSpPr>
        <p:spPr>
          <a:xfrm>
            <a:off x="4389120" y="2194560"/>
            <a:ext cx="594360" cy="594360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1766" y="233720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20440" y="29260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② 同意取得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520440" y="361188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9F1F7"/>
                </a:solidFill>
              </a:rPr>
              <a:t>祖父から水田実地調査・上空飛行の明示的な同意を取得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72200" y="1920240"/>
            <a:ext cx="2606040" cy="4023360"/>
          </a:xfrm>
          <a:prstGeom prst="roundRect">
            <a:avLst>
              <a:gd name="adj" fmla="val 3509"/>
            </a:avLst>
          </a:prstGeom>
          <a:solidFill>
            <a:srgbClr val="065A82"/>
          </a:solidFill>
          <a:ln/>
        </p:spPr>
      </p:sp>
      <p:sp>
        <p:nvSpPr>
          <p:cNvPr id="15" name="Shape 11"/>
          <p:cNvSpPr/>
          <p:nvPr/>
        </p:nvSpPr>
        <p:spPr>
          <a:xfrm>
            <a:off x="7178040" y="2194560"/>
            <a:ext cx="594360" cy="594360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0686" y="233720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09360" y="29260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③ 徒歩測量（確実に動く土台）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309360" y="361188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9F1F7"/>
                </a:solidFill>
              </a:rPr>
              <a:t>同伴者とQZ1＋Pixelで水田境界・水門位置を実測（MVPの主経路）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8961120" y="1920240"/>
            <a:ext cx="2606040" cy="4023360"/>
          </a:xfrm>
          <a:prstGeom prst="roundRect">
            <a:avLst>
              <a:gd name="adj" fmla="val 3509"/>
            </a:avLst>
          </a:prstGeom>
          <a:solidFill>
            <a:srgbClr val="1C7293"/>
          </a:solidFill>
          <a:ln/>
        </p:spPr>
      </p:sp>
      <p:sp>
        <p:nvSpPr>
          <p:cNvPr id="20" name="Shape 15"/>
          <p:cNvSpPr/>
          <p:nvPr/>
        </p:nvSpPr>
        <p:spPr>
          <a:xfrm>
            <a:off x="9966960" y="2194560"/>
            <a:ext cx="594360" cy="594360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9606" y="2337206"/>
            <a:ext cx="309067" cy="309067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098280" y="29260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④ ドローン測量（発展）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9098280" y="361188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9F1F7"/>
                </a:solidFill>
              </a:rPr>
              <a:t>祖父の水田上空で実地飛行 → 高密度な圃場形状データを取得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</a:rPr>
              <a:t>単独でのフィールドワーク・ドローン飛行は禁止 → 全工程で同伴者を確保する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ロードマップ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9FD8CB"/>
                </a:solidFill>
              </a:rPr>
              <a:t>ROADMAP TO 9/4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685800" cy="6858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993392"/>
            <a:ext cx="356616" cy="3566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84708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D8CB"/>
                </a:solidFill>
              </a:rPr>
              <a:t>7月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2834640" y="18013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コア機能を証明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217920" y="184708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6E3"/>
                </a:solidFill>
              </a:rPr>
              <a:t>QZ1実測1点→地図表示までE2Eで動作確認。静的JSONの骨組み構築。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91540" y="2514600"/>
            <a:ext cx="0" cy="502920"/>
          </a:xfrm>
          <a:prstGeom prst="line">
            <a:avLst/>
          </a:prstGeom>
          <a:noFill/>
          <a:ln w="19050">
            <a:solidFill>
              <a:srgbClr val="1C7293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548640" y="3017520"/>
            <a:ext cx="685800" cy="6858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3182112"/>
            <a:ext cx="356616" cy="35661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63040" y="303580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D8CB"/>
                </a:solidFill>
              </a:rPr>
              <a:t>8月上旬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2834640" y="299008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データ収集開始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217920" y="303580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6E3"/>
                </a:solidFill>
              </a:rPr>
              <a:t>徒歩測量で水田形状取得。学校でドローン搭載試験。週次報告開始。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91540" y="3703320"/>
            <a:ext cx="0" cy="502920"/>
          </a:xfrm>
          <a:prstGeom prst="line">
            <a:avLst/>
          </a:prstGeom>
          <a:noFill/>
          <a:ln w="19050">
            <a:solidFill>
              <a:srgbClr val="1C7293"/>
            </a:solidFill>
            <a:prstDash val="dash"/>
          </a:ln>
        </p:spPr>
      </p:sp>
      <p:sp>
        <p:nvSpPr>
          <p:cNvPr id="16" name="Shape 12"/>
          <p:cNvSpPr/>
          <p:nvPr/>
        </p:nvSpPr>
        <p:spPr>
          <a:xfrm>
            <a:off x="548640" y="4206240"/>
            <a:ext cx="685800" cy="6858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4370832"/>
            <a:ext cx="356616" cy="35661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463040" y="422452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D8CB"/>
                </a:solidFill>
              </a:rPr>
              <a:t>8月下旬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2834640" y="41788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発展機能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6217920" y="422452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6E3"/>
                </a:solidFill>
              </a:rPr>
              <a:t>祖父の同意取得後、ドローン実地飛行。気象連携ロジックを実装。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891540" y="4892040"/>
            <a:ext cx="0" cy="502920"/>
          </a:xfrm>
          <a:prstGeom prst="line">
            <a:avLst/>
          </a:prstGeom>
          <a:noFill/>
          <a:ln w="19050">
            <a:solidFill>
              <a:srgbClr val="1C7293"/>
            </a:solidFill>
            <a:prstDash val="dash"/>
          </a:ln>
        </p:spPr>
      </p:sp>
      <p:sp>
        <p:nvSpPr>
          <p:cNvPr id="22" name="Shape 17"/>
          <p:cNvSpPr/>
          <p:nvPr/>
        </p:nvSpPr>
        <p:spPr>
          <a:xfrm>
            <a:off x="548640" y="5394960"/>
            <a:ext cx="685800" cy="6858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5559552"/>
            <a:ext cx="356616" cy="356616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63040" y="54132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D8CB"/>
                </a:solidFill>
              </a:rPr>
              <a:t>9/1–9/4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2834640" y="53675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現地合宿・最終発表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6217920" y="541324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6E3"/>
                </a:solidFill>
              </a:rPr>
              <a:t>長岡高専にてフィールドテスト・仕上げ・最終発表（10分＋質疑10分）。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審査基準への対応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64748B"/>
                </a:solidFill>
              </a:rPr>
              <a:t>RUBRIC ALIGNMENT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758952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評価項目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配点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対応内容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93B"/>
                          </a:solidFill>
                        </a:rPr>
                        <a:t>地域課題の的確さ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7293"/>
                          </a:solidFill>
                        </a:rPr>
                        <a:t>25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</a:rPr>
                        <a:t>実在の祖父・水田。手動水門操作の負担を実地ヒアリングで裏付け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93B"/>
                          </a:solidFill>
                        </a:rPr>
                        <a:t>位置情報の活用度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7293"/>
                          </a:solidFill>
                        </a:rPr>
                        <a:t>25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</a:rPr>
                        <a:t>SLAS取得時（fix=2・衛星数・HDOPで判定）に圃場形状を高精度記録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93B"/>
                          </a:solidFill>
                        </a:rPr>
                        <a:t>完成度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7293"/>
                          </a:solidFill>
                        </a:rPr>
                        <a:t>20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</a:rPr>
                        <a:t>静的JSON中心のMVPをGitHub Pagesで公開・実動作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93B"/>
                          </a:solidFill>
                        </a:rPr>
                        <a:t>プレゼンテーション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7293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</a:rPr>
                        <a:t>課題→技術の壁→解決策→デモの型で構成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93B"/>
                          </a:solidFill>
                        </a:rPr>
                        <a:t>発展可能性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7293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</a:rPr>
                        <a:t>他地域の水田・ドローン測量への展開余地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263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</a:rPr>
              <a:t>狙う特別賞：ベストフィールドワーク賞（実地調査重視）／技術チャレンジ賞（ドローン搭載SLAS測量）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Suimon Navi Plan</dc:title>
  <dc:subject>PptxGenJS Presentation</dc:subject>
  <dc:creator>KAI / Nara KOSEN Team E</dc:creator>
  <cp:lastModifiedBy>KAI / Nara KOSEN Team E</cp:lastModifiedBy>
  <cp:revision>1</cp:revision>
  <dcterms:created xsi:type="dcterms:W3CDTF">2026-07-04T08:54:07Z</dcterms:created>
  <dcterms:modified xsi:type="dcterms:W3CDTF">2026-07-04T08:54:07Z</dcterms:modified>
</cp:coreProperties>
</file>